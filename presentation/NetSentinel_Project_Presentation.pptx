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F0FF"/>
                </a:solidFill>
                <a:latin typeface="Inter"/>
              </a:defRPr>
            </a:pPr>
            <a:r>
              <a:t>NETSENTINEL</a:t>
            </a:r>
          </a:p>
          <a:p>
            <a:pPr algn="ctr">
              <a:spcBef>
                <a:spcPts val="1000"/>
              </a:spcBef>
              <a:defRPr sz="2400">
                <a:solidFill>
                  <a:srgbClr val="E2E8F0"/>
                </a:solidFill>
                <a:latin typeface="Inter"/>
              </a:defRPr>
            </a:pPr>
            <a:r>
              <a:t>Network Intrusion &amp; Log Anomaly Detector</a:t>
            </a:r>
          </a:p>
          <a:p>
            <a:pPr algn="ctr">
              <a:spcBef>
                <a:spcPts val="30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End-to-End Data Engineering &amp; Machine Learning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C3AED"/>
                </a:solidFill>
                <a:latin typeface="Inter"/>
              </a:defRPr>
            </a:pPr>
            <a:r>
              <a:t>Class Presentation | Dataset: CICIDS2017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Inter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Inter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0D1117"/>
          </a:solidFill>
          <a:ln w="95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E2E8F0"/>
                </a:solidFill>
                <a:latin typeface="Inter"/>
              </a:defRPr>
            </a:pPr>
            <a: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466344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Build a fully automated data pipeline capable of digesting, cleaning, and preprocessing high-volume network security log datasets.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Implement a dual ML engine combining supervised learning (for known attack categorization) and unsupervised learning (for zero-day anomaly scores).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Export metrics and live predictions into an interactive, high-fidelity web dashboard with real-time threat maps.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0D1117"/>
          </a:solidFill>
          <a:ln w="95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E2E8F0"/>
                </a:solidFill>
                <a:latin typeface="Inter"/>
              </a:defRPr>
            </a:pPr>
            <a:r>
              <a:t>Core Accomplishments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ETL Pipeline: Successfully merges and processes ~2.8 million network flow logs from the Canadian Institute for Cybersecurity (CICIDS2017).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ML Modeling: Deployed Random Forest with 99.4% weighted classification accuracy, alongside a robust Isolation Forest outlier detector.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Data Export: Engineered automated JSON outputs detailing protocol breakdowns, port mappings, and threat vectors for immediate visualization.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Inter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Inter"/>
              </a:defRPr>
            </a:pPr>
            <a:r>
              <a:t>End-to-End Pipeline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46304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148840"/>
            <a:ext cx="1316736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2E8F0"/>
                </a:solidFill>
                <a:latin typeface="Inter"/>
              </a:defRPr>
            </a:pPr>
            <a:r>
              <a:t>1. Ingestion</a:t>
            </a:r>
          </a:p>
          <a:p>
            <a:pPr>
              <a:lnSpc>
                <a:spcPct val="125000"/>
              </a:lnSpc>
              <a:defRPr sz="850">
                <a:solidFill>
                  <a:srgbClr val="94A3B8"/>
                </a:solidFill>
                <a:latin typeface="Inter"/>
              </a:defRPr>
            </a:pPr>
            <a:r>
              <a:t>Loads and merges multiple raw CSV datasets into one master dataframe (~2.8M rows).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67712" y="2011680"/>
            <a:ext cx="146304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40864" y="2148840"/>
            <a:ext cx="1316736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2E8F0"/>
                </a:solidFill>
                <a:latin typeface="Inter"/>
              </a:defRPr>
            </a:pPr>
            <a:r>
              <a:t>2. Cleaning</a:t>
            </a:r>
          </a:p>
          <a:p>
            <a:pPr>
              <a:lnSpc>
                <a:spcPct val="125000"/>
              </a:lnSpc>
              <a:defRPr sz="850">
                <a:solidFill>
                  <a:srgbClr val="94A3B8"/>
                </a:solidFill>
                <a:latin typeface="Inter"/>
              </a:defRPr>
            </a:pPr>
            <a:r>
              <a:t>Removes Inf/NaN noise, handles duplicate logs, and cleans column header syntax.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03904" y="2011680"/>
            <a:ext cx="146304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77056" y="2148840"/>
            <a:ext cx="1316736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2E8F0"/>
                </a:solidFill>
                <a:latin typeface="Inter"/>
              </a:defRPr>
            </a:pPr>
            <a:r>
              <a:t>3. Feature Eng.</a:t>
            </a:r>
          </a:p>
          <a:p>
            <a:pPr>
              <a:lnSpc>
                <a:spcPct val="125000"/>
              </a:lnSpc>
              <a:defRPr sz="850">
                <a:solidFill>
                  <a:srgbClr val="94A3B8"/>
                </a:solidFill>
                <a:latin typeface="Inter"/>
              </a:defRPr>
            </a:pPr>
            <a:r>
              <a:t>Performs feature selection (40 key columns), handles scale normalization.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40096" y="2011680"/>
            <a:ext cx="146304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13248" y="2148840"/>
            <a:ext cx="1316736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2E8F0"/>
                </a:solidFill>
                <a:latin typeface="Inter"/>
              </a:defRPr>
            </a:pPr>
            <a:r>
              <a:t>4. ML Modeling</a:t>
            </a:r>
          </a:p>
          <a:p>
            <a:pPr>
              <a:lnSpc>
                <a:spcPct val="125000"/>
              </a:lnSpc>
              <a:defRPr sz="850">
                <a:solidFill>
                  <a:srgbClr val="94A3B8"/>
                </a:solidFill>
                <a:latin typeface="Inter"/>
              </a:defRPr>
            </a:pPr>
            <a:r>
              <a:t>Splits train/test splits. Trains Isolation Forest (unsupervised) + Random Forest.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76288" y="2011680"/>
            <a:ext cx="146304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148840"/>
            <a:ext cx="1316736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2E8F0"/>
                </a:solidFill>
                <a:latin typeface="Inter"/>
              </a:defRPr>
            </a:pPr>
            <a:r>
              <a:t>5. Statistics</a:t>
            </a:r>
          </a:p>
          <a:p>
            <a:pPr>
              <a:lnSpc>
                <a:spcPct val="125000"/>
              </a:lnSpc>
              <a:defRPr sz="850">
                <a:solidFill>
                  <a:srgbClr val="94A3B8"/>
                </a:solidFill>
                <a:latin typeface="Inter"/>
              </a:defRPr>
            </a:pPr>
            <a:r>
              <a:t>Runs numeric analysis to compile protocol distributions and threat counts.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2011680"/>
            <a:ext cx="146304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2148840"/>
            <a:ext cx="1316736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2E8F0"/>
                </a:solidFill>
                <a:latin typeface="Inter"/>
              </a:defRPr>
            </a:pPr>
            <a:r>
              <a:t>6. Visualization</a:t>
            </a:r>
          </a:p>
          <a:p>
            <a:pPr>
              <a:lnSpc>
                <a:spcPct val="125000"/>
              </a:lnSpc>
              <a:defRPr sz="850">
                <a:solidFill>
                  <a:srgbClr val="94A3B8"/>
                </a:solidFill>
                <a:latin typeface="Inter"/>
              </a:defRPr>
            </a:pPr>
            <a:r>
              <a:t>Generates 8 high-quality analytical charts (PNG) saved in output/charts/.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48672" y="2011680"/>
            <a:ext cx="146304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21824" y="2148840"/>
            <a:ext cx="1316736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2E8F0"/>
                </a:solidFill>
                <a:latin typeface="Inter"/>
              </a:defRPr>
            </a:pPr>
            <a:r>
              <a:t>7. Dashboard</a:t>
            </a:r>
          </a:p>
          <a:p>
            <a:pPr>
              <a:lnSpc>
                <a:spcPct val="125000"/>
              </a:lnSpc>
              <a:defRPr sz="850">
                <a:solidFill>
                  <a:srgbClr val="94A3B8"/>
                </a:solidFill>
                <a:latin typeface="Inter"/>
              </a:defRPr>
            </a:pPr>
            <a:r>
              <a:t>Compiles metrics &amp; logs into dashboard_data.json to feed the front-end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Inter"/>
              </a:defRPr>
            </a:pPr>
            <a:r>
              <a:t>DATA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Inter"/>
              </a:defRPr>
            </a:pPr>
            <a:r>
              <a:t>ETL Phase: Ingestion, Cleaning &amp; Features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0FF"/>
                          </a:solidFill>
                          <a:latin typeface="Inter"/>
                        </a:defRPr>
                      </a:pPr>
                      <a:r>
                        <a:t>Dataset Name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CICIDS2017 (UNB)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0FF"/>
                          </a:solidFill>
                          <a:latin typeface="Inter"/>
                        </a:defRPr>
                      </a:pPr>
                      <a:r>
                        <a:t>Original Records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~2.8 Million network flows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0FF"/>
                          </a:solidFill>
                          <a:latin typeface="Inter"/>
                        </a:defRPr>
                      </a:pPr>
                      <a:r>
                        <a:t>Feature Columns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78 numeric + 1 label column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0FF"/>
                          </a:solidFill>
                          <a:latin typeface="Inter"/>
                        </a:defRPr>
                      </a:pPr>
                      <a:r>
                        <a:t>Selected ML Features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40 high-relevance columns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0FF"/>
                          </a:solidFill>
                          <a:latin typeface="Inter"/>
                        </a:defRPr>
                      </a:pPr>
                      <a:r>
                        <a:t>Attack Ratio In Data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~20.0% of total flows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0FF"/>
                          </a:solidFill>
                          <a:latin typeface="Inter"/>
                        </a:defRPr>
                      </a:pPr>
                      <a:r>
                        <a:t>Attacks Covered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DoS, DDoS, PortScan, Botnet, Web, etc.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0D1117"/>
          </a:solidFill>
          <a:ln w="95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E2E8F0"/>
                </a:solidFill>
                <a:latin typeface="Inter"/>
              </a:defRPr>
            </a:pPr>
            <a:r>
              <a:t>Data Preprocessing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331720"/>
            <a:ext cx="466344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Data Ingestion: Efficient chunk-wise loading to prevent RAM overflows when merging massive Monday-Friday CSVs.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Data Cleansing: Identifies and replaces Infinite/NaN values in high-variance columns. Sanitizes duplicate flow instances.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Scaling &amp; Standardization: Fits a standard scaler to normalise high-value variables (e.g. Flow Duration, Init Win Bytes) for proper mathematical weighting.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Subsampling: Smart balanced selection up to 500,000 samples for swift model training iteration without data loss.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Inter"/>
              </a:defRPr>
            </a:pPr>
            <a:r>
              <a:t>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Inter"/>
              </a:defRPr>
            </a:pPr>
            <a:r>
              <a:t>Dual Machine Learning Engines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0D1117"/>
          </a:solidFill>
          <a:ln w="95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E2E8F0"/>
                </a:solidFill>
                <a:latin typeface="Inter"/>
              </a:defRPr>
            </a:pPr>
            <a:r>
              <a:t>Engine A: Random Forest (Supervised)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466344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Goal: Multi-class attack categorisation (identifies if a threat is Botnet, DDoS, Web Attack, PortScan, etc.).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Handling Imbalance: Uses 'class_weight="balanced"' to handle highly imbalanced attacks (e.g., Infiltration has very few samples compared to normal traffic).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Robustness: High depth limit of 20 with 100 estimators prevents overfitting while locking in structural patterns.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Feature Importance: Computes Gini impurity scores per feature, helping security analysts understand what metrics expose intrusions.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0D1117"/>
          </a:solidFill>
          <a:ln w="95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E2E8F0"/>
                </a:solidFill>
                <a:latin typeface="Inter"/>
              </a:defRPr>
            </a:pPr>
            <a:r>
              <a:t>Engine B: Isolation Forest (Unsupervised)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Goal: Outlier detection. Flags anomalies and potential Zero-Day exploits without relying on class labels.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Logic: Isolate observations by randomly selecting a feature and split value. Anomalies require fewer splits to isolate.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Hyperparameters: Set contamination threshold to 20% (approximate historical ratio of attack traffic in the environment).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Complementary Analysis: Feeds anomaly scores into system logs to alert on unusual volumes before classification occurs.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Inter"/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Inter"/>
              </a:defRPr>
            </a:pPr>
            <a:r>
              <a:t>Model Training Results &amp;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554480"/>
              </a:tblGrid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0FF"/>
                          </a:solidFill>
                          <a:latin typeface="Inter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0FF"/>
                          </a:solidFill>
                          <a:latin typeface="Inter"/>
                        </a:defRPr>
                      </a:pPr>
                      <a:r>
                        <a:t>Isolation Forest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0FF"/>
                          </a:solidFill>
                          <a:latin typeface="Inter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F0FF"/>
                          </a:solidFill>
                          <a:latin typeface="Inter"/>
                        </a:defRPr>
                      </a:pPr>
                      <a:r>
                        <a:t>82.2%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  <a:latin typeface="Inter"/>
                        </a:defRPr>
                      </a:pPr>
                      <a:r>
                        <a:t>99.4%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F1-Score (Weighted)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51.9%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  <a:latin typeface="Inter"/>
                        </a:defRPr>
                      </a:pPr>
                      <a:r>
                        <a:t>99.6%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Training Time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10.2s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62.0s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Learning Type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Unsupervised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Supervised (Multi)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44574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Inter"/>
              </a:defRPr>
            </a:pPr>
            <a:r>
              <a:t>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Inter"/>
              </a:defRPr>
            </a:pPr>
            <a:r>
              <a:t>Key Security Features &amp; Importances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5882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0D1117"/>
          </a:solidFill>
          <a:ln w="95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E2E8F0"/>
                </a:solidFill>
                <a:latin typeface="Inter"/>
              </a:defRPr>
            </a:pPr>
            <a:r>
              <a:t>Top Diagnostic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331720"/>
            <a:ext cx="466344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Init_Win_bytes_backward: Handshake characteristics are extremely crucial for flagging SSH/FTP brute force and web exploits.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Bwd Packet Length Mean / Max: High volumes of outgoing response payloads indicate possible data exfiltration.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Flow Duration &amp; Flow IAT: Small, rapid duration indicators show automated flooding attacks (e.g. SYN Flood, DDoS).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PSH/ACK Flag Counts: Set flags expose session scanner sweeps (PortScan) and packet structural anomalies.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Inter"/>
              </a:defRPr>
            </a:pPr>
            <a: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Inter"/>
              </a:defRPr>
            </a:pPr>
            <a:r>
              <a:t>Validation Curve Analysis</a:t>
            </a:r>
          </a:p>
        </p:txBody>
      </p:sp>
      <p:pic>
        <p:nvPicPr>
          <p:cNvPr id="4" name="Picture 3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236239"/>
          </a:xfrm>
          <a:prstGeom prst="rect">
            <a:avLst/>
          </a:prstGeom>
        </p:spPr>
      </p:pic>
      <p:pic>
        <p:nvPicPr>
          <p:cNvPr id="5" name="Picture 4" descr="anomaly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120640" cy="32955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Inter"/>
              </a:defRPr>
            </a:pPr>
            <a:r>
              <a:t>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Inter"/>
              </a:defRPr>
            </a:pPr>
            <a:r>
              <a:t>Interactive Cybersecurity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0D1117"/>
          </a:solidFill>
          <a:ln w="95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E2E8F0"/>
                </a:solidFill>
                <a:latin typeface="Inter"/>
              </a:defRPr>
            </a:pPr>
            <a:r>
              <a:t>Front-End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466344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Visual Map Layer: Renders an active map representing global threat sources pointing to the central network node.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Interactive Log Feed: Displays system warnings, notifications, and alerts categorized by severity (Critical, Warning, Info).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Active Threat Logs: Lists offending IP addresses, their protocol types, target services, and blocking statuses.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Dynamic Statistics: Connects automatically to pipeline output (dashboard_data.json) or runs in simulation mode.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0D1117"/>
          </a:solidFill>
          <a:ln w="95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E2E8F0"/>
                </a:solidFill>
                <a:latin typeface="Inter"/>
              </a:defRPr>
            </a:pPr>
            <a:r>
              <a:t>System Technologies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Pipeline Engine: Written in Python utilizing Pandas, Scikit-learn, and Joblib for stateful model serialization.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Web Dashboard: Implemented in vanilla HTML5, modern CSS3 transitions, and raw client-side Javascript.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Data Visualizations: Custom built dashboard widgets rendering using Chart.js alongside standard matplotlib plots.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Production Readiness: Packaged layout suitable for local hosting or containerized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